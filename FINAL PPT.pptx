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3"/>
  </p:notesMasterIdLst>
  <p:handoutMasterIdLst>
    <p:handoutMasterId r:id="rId14"/>
  </p:handoutMasterIdLst>
  <p:sldIdLst>
    <p:sldId id="277" r:id="rId3"/>
    <p:sldId id="291" r:id="rId4"/>
    <p:sldId id="328" r:id="rId5"/>
    <p:sldId id="329" r:id="rId6"/>
    <p:sldId id="330" r:id="rId7"/>
    <p:sldId id="331" r:id="rId8"/>
    <p:sldId id="332" r:id="rId9"/>
    <p:sldId id="333" r:id="rId10"/>
    <p:sldId id="284" r:id="rId11"/>
    <p:sldId id="279" r:id="rId12"/>
  </p:sldIdLst>
  <p:sldSz cx="12192000" cy="6858000"/>
  <p:notesSz cx="6735763" cy="98694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52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5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9691"/>
            <a:ext cx="5388610" cy="388611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sper" panose="02000506000000020004"/>
              </a:defRPr>
            </a:lvl1pPr>
            <a:lvl2pPr>
              <a:defRPr>
                <a:latin typeface="Casper" panose="02000506000000020004"/>
              </a:defRPr>
            </a:lvl2pPr>
            <a:lvl3pPr>
              <a:defRPr>
                <a:latin typeface="Casper" panose="02000506000000020004"/>
              </a:defRPr>
            </a:lvl3pPr>
            <a:lvl4pPr>
              <a:defRPr>
                <a:latin typeface="Casper" panose="02000506000000020004"/>
              </a:defRPr>
            </a:lvl4pPr>
            <a:lvl5pPr>
              <a:defRPr>
                <a:latin typeface="Casper" panose="02000506000000020004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75873" y="109346"/>
            <a:ext cx="2482468" cy="91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84595" y="1849246"/>
            <a:ext cx="9832638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500" b="1" dirty="0"/>
              <a:t>SURVEY ON CLOUD AUTHENTICATION USED BY SMEs</a:t>
            </a:r>
            <a:r>
              <a:rPr lang="en-IN" sz="3500" b="1" dirty="0"/>
              <a:t> </a:t>
            </a: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5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EF025C-DD30-CCAF-66DA-F2F9130E5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653" y="3456306"/>
            <a:ext cx="4562861" cy="3062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000" b="1" dirty="0"/>
              <a:t>JEAVI KARWAL(24BCY70002)</a:t>
            </a:r>
          </a:p>
          <a:p>
            <a:pPr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000" b="1" dirty="0"/>
              <a:t>VANSHDEEP SINGH (24BCY70033)</a:t>
            </a:r>
          </a:p>
          <a:p>
            <a:pPr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000" b="1" dirty="0"/>
              <a:t>HARKUNWAR SINGH(24BCY70049)</a:t>
            </a:r>
          </a:p>
          <a:p>
            <a:pPr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000" b="1" dirty="0"/>
              <a:t>MANYA SHARMA(24BCY70050)</a:t>
            </a:r>
          </a:p>
          <a:p>
            <a:pPr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000" b="1" dirty="0"/>
              <a:t>AMITOZ SINGH(24BCY70071)</a:t>
            </a:r>
          </a:p>
          <a:p>
            <a:pPr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IN" sz="2000" b="1" dirty="0"/>
          </a:p>
          <a:p>
            <a:pPr lvl="0"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IN" sz="2000" b="1" dirty="0"/>
          </a:p>
          <a:p>
            <a:pPr lvl="0"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A9A8C-0734-AB0A-32BC-39B8C90BD434}"/>
              </a:ext>
            </a:extLst>
          </p:cNvPr>
          <p:cNvSpPr txBox="1"/>
          <p:nvPr/>
        </p:nvSpPr>
        <p:spPr>
          <a:xfrm>
            <a:off x="688133" y="3447662"/>
            <a:ext cx="6097554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/>
              <a:t>Department:</a:t>
            </a:r>
            <a:r>
              <a:rPr lang="en-US" sz="2500" dirty="0"/>
              <a:t> Computer Science &amp; Engineering</a:t>
            </a:r>
            <a:br>
              <a:rPr lang="en-US" sz="2500" dirty="0"/>
            </a:br>
            <a:r>
              <a:rPr lang="en-US" sz="2500" b="1" dirty="0"/>
              <a:t>Institute:</a:t>
            </a:r>
            <a:r>
              <a:rPr lang="en-US" sz="2500" dirty="0"/>
              <a:t> Chandigarh </a:t>
            </a:r>
            <a:r>
              <a:rPr lang="en-US" sz="2500" dirty="0" err="1"/>
              <a:t>University</a:t>
            </a:r>
            <a:r>
              <a:rPr lang="en-US" sz="2500" b="1" i="0" dirty="0" err="1">
                <a:solidFill>
                  <a:srgbClr val="FFFFFF"/>
                </a:solidFill>
                <a:effectLst/>
                <a:latin typeface="ui-sans-serif"/>
              </a:rPr>
              <a:t>Department</a:t>
            </a:r>
            <a:r>
              <a:rPr lang="en-US" sz="2500" b="1" i="0" dirty="0">
                <a:solidFill>
                  <a:srgbClr val="FFFFFF"/>
                </a:solidFill>
                <a:effectLst/>
                <a:latin typeface="ui-sans-serif"/>
              </a:rPr>
              <a:t>: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ui-sans-serif"/>
              </a:rPr>
              <a:t> Computer Science &amp; Engineering</a:t>
            </a:r>
            <a:br>
              <a:rPr lang="en-US" dirty="0"/>
            </a:br>
            <a:r>
              <a:rPr lang="en-US" b="1" i="0" dirty="0">
                <a:solidFill>
                  <a:srgbClr val="FFFFFF"/>
                </a:solidFill>
                <a:effectLst/>
                <a:latin typeface="ui-sans-serif"/>
              </a:rPr>
              <a:t>Institute:</a:t>
            </a: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 Chandigarh University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861"/>
            <a:ext cx="5727970" cy="973139"/>
          </a:xfrm>
        </p:spPr>
        <p:txBody>
          <a:bodyPr/>
          <a:lstStyle/>
          <a:p>
            <a:pPr algn="ctr"/>
            <a:r>
              <a:rPr lang="en-IN" dirty="0">
                <a:latin typeface="Casper Bold" panose="02000806040000020004" pitchFamily="2" charset="0"/>
                <a:cs typeface="Arial" panose="020B0604020202020204" pitchFamily="34" charset="0"/>
              </a:rPr>
              <a:t>TOPICS TO BE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27150"/>
            <a:ext cx="11525250" cy="5029200"/>
          </a:xfrm>
        </p:spPr>
        <p:txBody>
          <a:bodyPr>
            <a:normAutofit/>
          </a:bodyPr>
          <a:lstStyle/>
          <a:p>
            <a:pPr marL="342900" indent="-342900" algn="just">
              <a:buAutoNum type="arabicPeriod"/>
            </a:pPr>
            <a:r>
              <a:rPr lang="en-IN" sz="2400" dirty="0"/>
              <a:t>Introduction</a:t>
            </a:r>
          </a:p>
          <a:p>
            <a:pPr marL="342900" indent="-342900" algn="just">
              <a:buAutoNum type="arabicPeriod"/>
            </a:pPr>
            <a:r>
              <a:rPr lang="en-IN" sz="2400" dirty="0"/>
              <a:t>About Technology</a:t>
            </a:r>
          </a:p>
          <a:p>
            <a:pPr marL="342900" indent="-342900" algn="just">
              <a:buAutoNum type="arabicPeriod"/>
            </a:pPr>
            <a:r>
              <a:rPr lang="en-IN" sz="2400" dirty="0"/>
              <a:t>Weekly Schedule</a:t>
            </a:r>
          </a:p>
          <a:p>
            <a:pPr marL="342900" indent="-342900" algn="just">
              <a:buAutoNum type="arabicPeriod"/>
            </a:pPr>
            <a:r>
              <a:rPr lang="en-IN" sz="2400" dirty="0"/>
              <a:t>Certification Done</a:t>
            </a:r>
          </a:p>
          <a:p>
            <a:pPr marL="342900" indent="-342900" algn="just">
              <a:buAutoNum type="arabicPeriod"/>
            </a:pPr>
            <a:r>
              <a:rPr lang="en-IN" sz="2400" dirty="0"/>
              <a:t>Conclusion and Future Scope</a:t>
            </a:r>
          </a:p>
          <a:p>
            <a:pPr marL="342900" indent="-342900" algn="just">
              <a:buAutoNum type="arabicPeriod"/>
            </a:pPr>
            <a:r>
              <a:rPr lang="en-IN" sz="2400" dirty="0">
                <a:latin typeface="Casper" panose="02000506000000020004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16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62569"/>
            <a:ext cx="10515600" cy="4776343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IN" sz="2600" b="1" dirty="0"/>
              <a:t>Cloud Authentication Technology</a:t>
            </a:r>
            <a:endParaRPr lang="en-IN" sz="2600" dirty="0"/>
          </a:p>
          <a:p>
            <a:r>
              <a:rPr lang="en-IN" sz="2600" dirty="0"/>
              <a:t>Cloud authentication verifies user identity before providing access to cloud applications, data, and digital platforms used by SMEs.</a:t>
            </a:r>
          </a:p>
          <a:p>
            <a:r>
              <a:rPr lang="en-IN" sz="2600" dirty="0"/>
              <a:t>SMEs rely heavily on digital tools like billing software, ERP, HR systems, and online payment apps — making authentication critical.</a:t>
            </a:r>
          </a:p>
          <a:p>
            <a:r>
              <a:rPr lang="en-IN" sz="2600" dirty="0"/>
              <a:t>Authentication methods studied include:</a:t>
            </a:r>
            <a:br>
              <a:rPr lang="en-IN" sz="2600" dirty="0"/>
            </a:br>
            <a:r>
              <a:rPr lang="en-IN" sz="2600" dirty="0"/>
              <a:t>✓ Password-based login</a:t>
            </a:r>
            <a:br>
              <a:rPr lang="en-IN" sz="2600" dirty="0"/>
            </a:br>
            <a:r>
              <a:rPr lang="en-IN" sz="2600" dirty="0"/>
              <a:t>✓ OTP-based 2FA</a:t>
            </a:r>
            <a:br>
              <a:rPr lang="en-IN" sz="2600" dirty="0"/>
            </a:br>
            <a:r>
              <a:rPr lang="en-IN" sz="2600" dirty="0"/>
              <a:t>✓ Multi-Factor Authentication (MFA) apps</a:t>
            </a:r>
            <a:br>
              <a:rPr lang="en-IN" sz="2600" dirty="0"/>
            </a:br>
            <a:r>
              <a:rPr lang="en-IN" sz="2600" dirty="0"/>
              <a:t>✓ Biometric authentication</a:t>
            </a:r>
            <a:br>
              <a:rPr lang="en-IN" sz="2600" dirty="0"/>
            </a:br>
            <a:r>
              <a:rPr lang="en-IN" sz="2600" dirty="0"/>
              <a:t>✓ </a:t>
            </a:r>
            <a:r>
              <a:rPr lang="en-IN" sz="2600" dirty="0" err="1"/>
              <a:t>Passwordless</a:t>
            </a:r>
            <a:r>
              <a:rPr lang="en-IN" sz="2600" dirty="0"/>
              <a:t> systems</a:t>
            </a:r>
          </a:p>
          <a:p>
            <a:r>
              <a:rPr lang="en-IN" sz="2600" dirty="0"/>
              <a:t>The survey helps understand which authentication techniques SMEs currently use, and what challenges they face in securing access.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2E2260-421B-2D1B-1B04-6E2E7F84F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45" y="775672"/>
            <a:ext cx="10515600" cy="1325563"/>
          </a:xfrm>
        </p:spPr>
        <p:txBody>
          <a:bodyPr/>
          <a:lstStyle/>
          <a:p>
            <a:r>
              <a:rPr lang="en-IN" b="1" dirty="0"/>
              <a:t> INTRODUCTION ABOUT TECHNOLOGY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28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904C9-DB3F-82D5-C5B6-7DB388EF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WEEKLY SCHEDULE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9510E-B24F-3DAB-378C-E95C4EC68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249" y="1539550"/>
            <a:ext cx="10515600" cy="5943601"/>
          </a:xfrm>
        </p:spPr>
        <p:txBody>
          <a:bodyPr>
            <a:noAutofit/>
          </a:bodyPr>
          <a:lstStyle/>
          <a:p>
            <a:r>
              <a:rPr lang="en-US" sz="1600" b="1" dirty="0"/>
              <a:t>WEEK 1 – Research &amp; Survey Design</a:t>
            </a:r>
            <a:endParaRPr lang="en-US" sz="1600" dirty="0"/>
          </a:p>
          <a:p>
            <a:r>
              <a:rPr lang="en-US" sz="1600" dirty="0"/>
              <a:t>Studied authentication practices</a:t>
            </a:r>
          </a:p>
          <a:p>
            <a:r>
              <a:rPr lang="en-US" sz="1600" dirty="0"/>
              <a:t>Identified SME challenges</a:t>
            </a:r>
          </a:p>
          <a:p>
            <a:r>
              <a:rPr lang="en-US" sz="1600" dirty="0"/>
              <a:t>Prepared questionnaire</a:t>
            </a:r>
          </a:p>
          <a:p>
            <a:r>
              <a:rPr lang="en-US" sz="1600" b="1" dirty="0"/>
              <a:t>WEEK 2 – Data Collection</a:t>
            </a:r>
            <a:endParaRPr lang="en-US" sz="1600" dirty="0"/>
          </a:p>
          <a:p>
            <a:r>
              <a:rPr lang="en-US" sz="1600" dirty="0"/>
              <a:t>Approached SMEs from retail, manufacturing, service &amp; education</a:t>
            </a:r>
          </a:p>
          <a:p>
            <a:r>
              <a:rPr lang="en-US" sz="1600" dirty="0"/>
              <a:t>Collected responses via Google Forms and direct interaction</a:t>
            </a:r>
          </a:p>
          <a:p>
            <a:r>
              <a:rPr lang="en-US" sz="1600" b="1" dirty="0"/>
              <a:t>WEEK 3 – Data Analysis &amp; Visualization</a:t>
            </a:r>
            <a:endParaRPr lang="en-US" sz="1600" dirty="0"/>
          </a:p>
          <a:p>
            <a:r>
              <a:rPr lang="en-US" sz="1600" dirty="0"/>
              <a:t>Categorized authentication types used</a:t>
            </a:r>
          </a:p>
          <a:p>
            <a:r>
              <a:rPr lang="en-US" sz="1600" dirty="0"/>
              <a:t>Created charts: password usage, MFA usage, biometric usage</a:t>
            </a:r>
          </a:p>
          <a:p>
            <a:r>
              <a:rPr lang="en-US" sz="1600" dirty="0"/>
              <a:t>Identified common vulnerabilities</a:t>
            </a:r>
          </a:p>
          <a:p>
            <a:r>
              <a:rPr lang="en-US" sz="1600" b="1" dirty="0"/>
              <a:t>WEEK 4 – Documentation &amp; Report Finalization</a:t>
            </a:r>
            <a:endParaRPr lang="en-US" sz="1600" dirty="0"/>
          </a:p>
          <a:p>
            <a:r>
              <a:rPr lang="en-US" sz="1600" dirty="0"/>
              <a:t>Compiled analysis</a:t>
            </a:r>
          </a:p>
          <a:p>
            <a:r>
              <a:rPr lang="en-US" sz="1600" dirty="0"/>
              <a:t>Prepared diagrams and graphical abstract</a:t>
            </a:r>
          </a:p>
          <a:p>
            <a:r>
              <a:rPr lang="en-US" sz="1600" dirty="0"/>
              <a:t>Completed final report &amp; PPT</a:t>
            </a:r>
          </a:p>
          <a:p>
            <a:br>
              <a:rPr lang="en-US" sz="1600" dirty="0"/>
            </a:br>
            <a:endParaRPr lang="en-I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D19DD-C092-FF26-D5C2-A862894E3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8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3966-67AF-7322-3762-4DC48D7C6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CERTIFICATION DONE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7020D-029A-1DDA-26C0-E5A61A303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Google Cybersecurity Certificate</a:t>
            </a:r>
            <a:endParaRPr lang="en-US" dirty="0"/>
          </a:p>
          <a:p>
            <a:r>
              <a:rPr lang="en-US" dirty="0"/>
              <a:t>Covered fundamentals of cybersecurity</a:t>
            </a:r>
          </a:p>
          <a:p>
            <a:r>
              <a:rPr lang="en-US" dirty="0"/>
              <a:t>Learned password security, MFA, and authentication concepts</a:t>
            </a:r>
          </a:p>
          <a:p>
            <a:r>
              <a:rPr lang="en-US" dirty="0"/>
              <a:t>Understood cyber threats faced by SMEs</a:t>
            </a:r>
          </a:p>
          <a:p>
            <a:r>
              <a:rPr lang="en-US" dirty="0"/>
              <a:t>Strengthened knowledge for the project on authentication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1A913-3681-199A-5DC1-EA37EEE0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42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3DA7E-BA90-454F-04D2-984C70C6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FC3454-D44E-84CF-DCAD-A4FAC604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AC55B-4638-6A10-C5E1-0675AC34B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261"/>
            <a:ext cx="4924424" cy="24460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DD5CD2-A3BD-96B3-4F8D-D6A2B2707C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535" y="1390261"/>
            <a:ext cx="4924425" cy="24460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209842-5B8D-5C35-339F-0F899D602A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959" y="1390261"/>
            <a:ext cx="3386041" cy="24460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2C247B-F24F-EF34-5055-ED1F5352DE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5" y="3836339"/>
            <a:ext cx="3881536" cy="28851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7E34FA-7633-EF91-95D6-EB4BD6C09B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534" y="3836339"/>
            <a:ext cx="4924425" cy="26565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B0F10B8-AA7B-FA13-4507-D5789369F9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958" y="3836339"/>
            <a:ext cx="3386041" cy="265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36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DA2C-B0E5-E243-A019-66B69040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6CAAF-3C82-AAEE-2B4A-3AC97F99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84FCC-4EA7-868D-2EFF-FAD781457046}"/>
              </a:ext>
            </a:extLst>
          </p:cNvPr>
          <p:cNvSpPr txBox="1"/>
          <p:nvPr/>
        </p:nvSpPr>
        <p:spPr>
          <a:xfrm>
            <a:off x="270587" y="2268877"/>
            <a:ext cx="123164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Password-based authentication is still the most commonly used method in SMEs.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ui-sans-serif"/>
              </a:rPr>
              <a:t>MFA adoption is low due to lack of awareness, cost, and technical challenges.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ui-sans-serif"/>
              </a:rPr>
              <a:t>Password sharing and weak password practices are major risks.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ui-sans-serif"/>
              </a:rPr>
              <a:t>Biometric and </a:t>
            </a:r>
            <a:r>
              <a:rPr lang="en-US" sz="2400" b="0" i="0" dirty="0" err="1">
                <a:effectLst/>
                <a:latin typeface="ui-sans-serif"/>
              </a:rPr>
              <a:t>passwordless</a:t>
            </a:r>
            <a:r>
              <a:rPr lang="en-US" sz="2400" b="0" i="0" dirty="0">
                <a:effectLst/>
                <a:latin typeface="ui-sans-serif"/>
              </a:rPr>
              <a:t> systems show potential but lack adoption in small enterprises.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ui-sans-serif"/>
              </a:rPr>
              <a:t>SMEs need awareness training, stronger policies, and simplified MFA solutions.</a:t>
            </a:r>
          </a:p>
          <a:p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89246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7B7F4-9219-C26D-F0E6-1D36F4EA2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FUTURE SCOPE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084DB0-4241-2C8E-CBFD-C85F7D412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72E90-65BF-890A-4355-31C7F79D15EB}"/>
              </a:ext>
            </a:extLst>
          </p:cNvPr>
          <p:cNvSpPr txBox="1"/>
          <p:nvPr/>
        </p:nvSpPr>
        <p:spPr>
          <a:xfrm>
            <a:off x="548174" y="2066073"/>
            <a:ext cx="60975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Promote low-cost MFA adoption (Google Authenticator, Microsoft Authenticator).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Encourage SMEs to implement password policies and regular audits.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Introduce biometric and </a:t>
            </a:r>
            <a:r>
              <a:rPr lang="en-US" b="0" i="0" dirty="0" err="1">
                <a:effectLst/>
                <a:latin typeface="ui-sans-serif"/>
              </a:rPr>
              <a:t>passwordless</a:t>
            </a:r>
            <a:r>
              <a:rPr lang="en-US" b="0" i="0" dirty="0">
                <a:effectLst/>
                <a:latin typeface="ui-sans-serif"/>
              </a:rPr>
              <a:t> authentication gradually.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Conduct workshops to train employees about secure login practices.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Expand survey to a larger sample for more accurate national-level insights.</a:t>
            </a: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3A4FB7-B4FE-A1F4-D7DC-B709A0921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976" y="1112675"/>
            <a:ext cx="4177004" cy="532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14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400"/>
            <a:ext cx="10515600" cy="4716272"/>
          </a:xfrm>
        </p:spPr>
        <p:txBody>
          <a:bodyPr>
            <a:noAutofit/>
          </a:bodyPr>
          <a:lstStyle/>
          <a:p>
            <a:r>
              <a:rPr lang="en-IN" dirty="0"/>
              <a:t>NIST Digital Identity Guidelines</a:t>
            </a:r>
          </a:p>
          <a:p>
            <a:r>
              <a:rPr lang="en-IN" dirty="0"/>
              <a:t>IBM Data Breach Report 2023</a:t>
            </a:r>
          </a:p>
          <a:p>
            <a:r>
              <a:rPr lang="en-IN" dirty="0"/>
              <a:t>Microsoft Digital </a:t>
            </a:r>
            <a:r>
              <a:rPr lang="en-IN" dirty="0" err="1"/>
              <a:t>Defense</a:t>
            </a:r>
            <a:r>
              <a:rPr lang="en-IN" dirty="0"/>
              <a:t> Report</a:t>
            </a:r>
          </a:p>
          <a:p>
            <a:r>
              <a:rPr lang="en-IN" dirty="0"/>
              <a:t>ENISA Cybersecurity Guide for SMEs</a:t>
            </a:r>
          </a:p>
          <a:p>
            <a:r>
              <a:rPr lang="en-IN" dirty="0"/>
              <a:t>Research papers from IEEE, Springer, ACM</a:t>
            </a:r>
          </a:p>
          <a:p>
            <a:r>
              <a:rPr lang="en-IN" dirty="0"/>
              <a:t>SME Cybersecurity Studies and reports</a:t>
            </a:r>
          </a:p>
          <a:p>
            <a:br>
              <a:rPr lang="en-IN" sz="1600" dirty="0"/>
            </a:br>
            <a:endParaRPr lang="en-I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71627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utoShape 2" descr="Rel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7995</TotalTime>
  <Words>461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Calibri Light</vt:lpstr>
      <vt:lpstr>Casper</vt:lpstr>
      <vt:lpstr>Casper Bold</vt:lpstr>
      <vt:lpstr>Times New Roman</vt:lpstr>
      <vt:lpstr>ui-sans-serif</vt:lpstr>
      <vt:lpstr>1_Office Theme</vt:lpstr>
      <vt:lpstr>Contents Slide Master</vt:lpstr>
      <vt:lpstr>CorelDRAW</vt:lpstr>
      <vt:lpstr>PowerPoint Presentation</vt:lpstr>
      <vt:lpstr>TOPICS TO BE COVERED</vt:lpstr>
      <vt:lpstr> INTRODUCTION ABOUT TECHNOLOGY </vt:lpstr>
      <vt:lpstr> WEEKLY SCHEDULE </vt:lpstr>
      <vt:lpstr> CERTIFICATION DONE </vt:lpstr>
      <vt:lpstr>SCREENSHOTS</vt:lpstr>
      <vt:lpstr>CONCLUSION </vt:lpstr>
      <vt:lpstr>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Manya Sharma</cp:lastModifiedBy>
  <cp:revision>173</cp:revision>
  <cp:lastPrinted>2019-07-10T09:38:27Z</cp:lastPrinted>
  <dcterms:created xsi:type="dcterms:W3CDTF">2019-01-09T10:33:58Z</dcterms:created>
  <dcterms:modified xsi:type="dcterms:W3CDTF">2025-11-17T16:28:46Z</dcterms:modified>
</cp:coreProperties>
</file>